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MDL 服务器运维管理系统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B0F0"/>
                </a:solidFill>
              </a:rPr>
              <a:t>领导汇报版 · 一小时精要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5A5A6"/>
                </a:solidFill>
              </a:rPr>
              <a:t>自动化运维  ·  标准化发布  ·  可追溯配置管理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474720"/>
            <a:ext cx="2011680" cy="1280160"/>
          </a:xfrm>
          <a:prstGeom prst="rect">
            <a:avLst/>
          </a:prstGeom>
          <a:solidFill>
            <a:srgbClr val="12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520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67E22"/>
                </a:solidFill>
              </a:rPr>
              <a:t>23+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160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CF0F1"/>
                </a:solidFill>
              </a:rPr>
              <a:t>功能模块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3474720"/>
            <a:ext cx="2011680" cy="1280160"/>
          </a:xfrm>
          <a:prstGeom prst="rect">
            <a:avLst/>
          </a:prstGeom>
          <a:solidFill>
            <a:srgbClr val="12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3520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67E22"/>
                </a:solidFill>
              </a:rPr>
              <a:t>5态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160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CF0F1"/>
                </a:solidFill>
              </a:rPr>
              <a:t>生命周期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3474720"/>
            <a:ext cx="2011680" cy="1280160"/>
          </a:xfrm>
          <a:prstGeom prst="rect">
            <a:avLst/>
          </a:prstGeom>
          <a:solidFill>
            <a:srgbClr val="12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3520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67E22"/>
                </a:solidFill>
              </a:rPr>
              <a:t>3x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4160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CF0F1"/>
                </a:solidFill>
              </a:rPr>
              <a:t>效率提升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0" y="3474720"/>
            <a:ext cx="2011680" cy="1280160"/>
          </a:xfrm>
          <a:prstGeom prst="rect">
            <a:avLst/>
          </a:prstGeom>
          <a:solidFill>
            <a:srgbClr val="12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35204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E67E22"/>
                </a:solidFill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160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CF0F1"/>
                </a:solidFill>
              </a:rPr>
              <a:t>手动操作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5A5A6"/>
                </a:solidFill>
              </a:rPr>
              <a:t>release-src v2.x    |    2026-03-02    |    运维研发团队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一、为什么必须做这件事？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背景与驱动力 — 运维复杂度已超出人工可控边界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2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379476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22529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服务器规模快速扩张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36192"/>
            <a:ext cx="3794760" cy="4681728"/>
          </a:xfrm>
          <a:prstGeom prst="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591056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机器数量从十余台增长至数十台
• 每次扩容需手工 SSH 逐台操作
• 配置差异无法被有效追踪
• 单次新机上线耗时 40 分钟以上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188720"/>
            <a:ext cx="379476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7" y="122529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人工流程不可持续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536192"/>
            <a:ext cx="3794760" cy="4681728"/>
          </a:xfrm>
          <a:prstGeom prst="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19" y="1591056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操作步骤靠口口相传，缺乏标准
• 发布时出错无法快速定位责任人
• 无版本快照，故障后配置无法还原
• 新人上手周期长达数周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188720"/>
            <a:ext cx="379476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122529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运维风险持续累积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536192"/>
            <a:ext cx="3794760" cy="4681728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591056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配置漂移无法主动发现
• 多人协作时配置冲突频发
• 故障恢复依赖个人经验
• 无法满足合规审计要求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二、旧模式的核心风险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传统人工运维 4 大痛点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3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5760720" cy="2377440"/>
          </a:xfrm>
          <a:prstGeom prst="rect">
            <a:avLst/>
          </a:prstGeom>
          <a:solidFill>
            <a:srgbClr val="ECF0F1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188720"/>
            <a:ext cx="5760720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225296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🔴 人工 SSH 操作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27632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每次配置变更需逐台登录服务器手动执行，
操作过程无法记录和审计，误操作追溯困难，
恢复代价极高。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188720"/>
            <a:ext cx="5760720" cy="2377440"/>
          </a:xfrm>
          <a:prstGeom prst="rect">
            <a:avLst/>
          </a:prstGeom>
          <a:solidFill>
            <a:srgbClr val="ECF0F1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188720"/>
            <a:ext cx="5760720" cy="3657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25296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🟠 无统一审计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627632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操作记录分散在各人终端历史中，
无法集中查看谁在什么时间做了什么，
合规审查时无法提供完整操作链路。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749039"/>
            <a:ext cx="5760720" cy="2377440"/>
          </a:xfrm>
          <a:prstGeom prst="rect">
            <a:avLst/>
          </a:prstGeom>
          <a:solidFill>
            <a:srgbClr val="ECF0F1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3749039"/>
            <a:ext cx="5760720" cy="3657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785615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🔵 配置不可回滚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87951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配置文件缺乏版本管理，修改后若出现问题，
无法快速恢复到上一个稳定版本，
只能靠人工记忆或搜索历史来还原。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49039"/>
            <a:ext cx="5760720" cy="2377440"/>
          </a:xfrm>
          <a:prstGeom prst="rect">
            <a:avLst/>
          </a:prstGeom>
          <a:solidFill>
            <a:srgbClr val="ECF0F1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49039"/>
            <a:ext cx="5760720" cy="36576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785615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🟡 批量扩容效率低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187951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</a:rPr>
              <a:t>扩容 10 台服务器需要花费半天以上时间，
每台机器都需重复相同初始化步骤，
出错概率随机器数量线性增长。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三、系统建设目标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在已有发布能力基础上，补齐服务器管理与配置管理的完整闭环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4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70432"/>
            <a:ext cx="23317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97864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能力维度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170432"/>
            <a:ext cx="4206240" cy="384048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197864"/>
            <a:ext cx="4069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原有系统（已具备）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170432"/>
            <a:ext cx="4937760" cy="384048"/>
          </a:xfrm>
          <a:prstGeom prst="rect">
            <a:avLst/>
          </a:prstGeom>
          <a:solidFill>
            <a:srgbClr val="0D47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197864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本次新增能力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572768"/>
            <a:ext cx="2331720" cy="1207008"/>
          </a:xfrm>
          <a:prstGeom prst="rect">
            <a:avLst/>
          </a:prstGeom>
          <a:solidFill>
            <a:srgbClr val="ECF0F1"/>
          </a:solidFill>
          <a:ln w="1270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1664208"/>
            <a:ext cx="214884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</a:rPr>
              <a:t>📋 发布流程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1572768"/>
            <a:ext cx="4206240" cy="1207008"/>
          </a:xfrm>
          <a:prstGeom prst="rect">
            <a:avLst/>
          </a:prstGeom>
          <a:solidFill>
            <a:srgbClr val="F0FBF4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16459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7AE60"/>
                </a:solidFill>
              </a:rPr>
              <a:t>✓ Jira 工单关联，顺序执行
✓ 每步有记录，支持暂停/重试
✓ 7 天内一键回滚
✓ 支持版本发布 &amp; 纯配置变更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1572768"/>
            <a:ext cx="4937760" cy="1207008"/>
          </a:xfrm>
          <a:prstGeom prst="rect">
            <a:avLst/>
          </a:prstGeom>
          <a:solidFill>
            <a:srgbClr val="F0FBF4"/>
          </a:solidFill>
          <a:ln w="1270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16459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— 本次无新增
（原系统已完整覆盖）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103689687968"/>
            <a:ext cx="2331720" cy="1207008"/>
          </a:xfrm>
          <a:prstGeom prst="rect">
            <a:avLst/>
          </a:prstGeom>
          <a:solidFill>
            <a:srgbClr val="ECF0F1"/>
          </a:solidFill>
          <a:ln w="1270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1103689779408"/>
            <a:ext cx="214884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</a:rPr>
              <a:t>🏗️ 服务器管理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1103689687968"/>
            <a:ext cx="4206240" cy="1207008"/>
          </a:xfrm>
          <a:prstGeom prst="rect">
            <a:avLst/>
          </a:prstGeom>
          <a:solidFill>
            <a:srgbClr val="EBF5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0" y="1103689761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70C0"/>
                </a:solidFill>
              </a:rPr>
              <a:t>✗ 无统一录入和管理
✗ 无生命周期追踪
✗ 扩容需逐台手工 SSH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0" y="1103689687968"/>
            <a:ext cx="4937760" cy="1207008"/>
          </a:xfrm>
          <a:prstGeom prst="rect">
            <a:avLst/>
          </a:prstGeom>
          <a:solidFill>
            <a:srgbClr val="EBF5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11036897611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70C0"/>
                </a:solidFill>
              </a:rPr>
              <a:t>✓ 统一录入 FQDN / IP / 服务名
✓ 5 态生命周期状态机
✓ 一键初始化（Ansible 自动化）
✓ 批量新增 &amp; 批量初始化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207377803168"/>
            <a:ext cx="2331720" cy="1207008"/>
          </a:xfrm>
          <a:prstGeom prst="rect">
            <a:avLst/>
          </a:prstGeom>
          <a:solidFill>
            <a:srgbClr val="ECF0F1"/>
          </a:solidFill>
          <a:ln w="1270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2207377894608"/>
            <a:ext cx="214884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</a:rPr>
              <a:t>🗂️ 配置管理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51760" y="2207377803168"/>
            <a:ext cx="4206240" cy="1207008"/>
          </a:xfrm>
          <a:prstGeom prst="rect">
            <a:avLst/>
          </a:prstGeom>
          <a:solidFill>
            <a:srgbClr val="FFF8EB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22073778763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67E22"/>
                </a:solidFill>
              </a:rPr>
              <a:t>△ 配置存于 GitLab，需手动编辑提交
△ 通过发布流程可下发配置变更
△ 无浏览器可视化编辑界面
△ 历史版本依赖 Git log 查阅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49440" y="2207377803168"/>
            <a:ext cx="4937760" cy="1207008"/>
          </a:xfrm>
          <a:prstGeom prst="rect">
            <a:avLst/>
          </a:prstGeom>
          <a:solidFill>
            <a:srgbClr val="FFF8EB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22073778763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67E22"/>
                </a:solidFill>
              </a:rPr>
              <a:t>✓ 浏览器内 Monaco 编辑器直接修改
✓ 自动历史快照 &amp; 版本 Diff 对比
✓ 与 GitLab 双向同步，保留提交记录
✓ 一键 Ansible 部署，无需走发布流程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311065918368"/>
            <a:ext cx="2331720" cy="1207008"/>
          </a:xfrm>
          <a:prstGeom prst="rect">
            <a:avLst/>
          </a:prstGeom>
          <a:solidFill>
            <a:srgbClr val="ECF0F1"/>
          </a:solidFill>
          <a:ln w="1270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7472" y="3311066009808"/>
            <a:ext cx="214884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3E50"/>
                </a:solidFill>
              </a:rPr>
              <a:t>⚡ 故障恢复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51760" y="3311065918368"/>
            <a:ext cx="4206240" cy="1207008"/>
          </a:xfrm>
          <a:prstGeom prst="rect">
            <a:avLst/>
          </a:prstGeom>
          <a:solidFill>
            <a:srgbClr val="FDF2F8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0" y="33110659915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74C3C"/>
                </a:solidFill>
              </a:rPr>
              <a:t>△ 依赖人工 SSH 排查
△ 配置修改无快照，难回滚
△ MTTR 小时级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3311065918368"/>
            <a:ext cx="4937760" cy="1207008"/>
          </a:xfrm>
          <a:prstGeom prst="rect">
            <a:avLst/>
          </a:prstGeom>
          <a:solidFill>
            <a:srgbClr val="FDF2F8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0" y="331106599152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74C3C"/>
                </a:solidFill>
              </a:rPr>
              <a:t>✓ 在线编辑 → 一键部署 → 立即回滚
✓ 自动配置快照，分钟级恢复
✓ 一致性巡检主动发现漂移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6400800"/>
            <a:ext cx="11612880" cy="292608"/>
          </a:xfrm>
          <a:prstGeom prst="rect">
            <a:avLst/>
          </a:prstGeom>
          <a:solidFill>
            <a:srgbClr val="EBF5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419088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0C0"/>
                </a:solidFill>
              </a:rPr>
              <a:t>💡 本次建设重点：服务器生命周期管理 + 配置集中可视化，与原有发布流程深度整合，构成完整的 DevOps 运维闭环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四、整体技术架构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前后端分离 · 多系统集成 · 自动化执行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5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247120" cy="10515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618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前端层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261872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CF0F1"/>
                </a:solidFill>
              </a:rPr>
              <a:t>Vue 2 + Element UI + Monaco Editor
浏览器内 JSON 编辑 · 实时 Diff 对比 · 自动保存 · 状态驱动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24028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5A5A6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1124712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963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后端层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2496312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CF0F1"/>
                </a:solidFill>
              </a:rPr>
              <a:t>Django 3.2 + Django REST Framework
权限控制 · 审计日志 · 异步任务 · RESTful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47472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5A5A6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57600"/>
            <a:ext cx="11247120" cy="1051560"/>
          </a:xfrm>
          <a:prstGeom prst="rect">
            <a:avLst/>
          </a:prstGeom>
          <a:solidFill>
            <a:srgbClr val="167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73075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自动化层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730752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CF0F1"/>
                </a:solidFill>
              </a:rPr>
              <a:t>Ansible Playbook
服务器初始化 · 配置部署 · 版本发布 · 幂等执行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70916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5A5A6"/>
                </a:solidFill>
              </a:rPr>
              <a:t>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1051560"/>
          </a:xfrm>
          <a:prstGeom prst="rect">
            <a:avLst/>
          </a:prstGeom>
          <a:solidFill>
            <a:srgbClr val="6C35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96519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集成层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965192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CF0F1"/>
                </a:solidFill>
              </a:rPr>
              <a:t>GitLab（配置版本）  |  Consul KV（配置推送）
Jira（工单关联）  |  MySQL（数据持久化）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五、服务器生命周期状态机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5 种状态 · 状态驱动操作 · 全程可追溯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6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1920240" cy="50292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90195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● 未初始化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828800"/>
            <a:ext cx="1920240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190195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● 初始化中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3291840"/>
            <a:ext cx="192024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336499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● 初始化失败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1828800"/>
            <a:ext cx="192024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190195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● 运行中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828800"/>
            <a:ext cx="1920240" cy="502920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190195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● 已退役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19842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5A5A6"/>
                </a:solidFill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22860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5A5A6"/>
                </a:solidFill>
              </a:rPr>
              <a:t>新增服务器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19842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5A5A6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228600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5A5A6"/>
                </a:solidFill>
              </a:rPr>
              <a:t>初始化成功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19842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5A5A6"/>
                </a:solidFill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28600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5A5A6"/>
                </a:solidFill>
              </a:rPr>
              <a:t>下线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44728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5A5A6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749040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5A5A6"/>
                </a:solidFill>
              </a:rPr>
              <a:t>重新初始化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235915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74C3C"/>
                </a:solidFill>
              </a:rPr>
              <a:t>↓ 初始化失败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12724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67E22"/>
                </a:solidFill>
              </a:rPr>
              <a:t>↑ 重新初始化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0" y="2743200"/>
            <a:ext cx="2560320" cy="2377440"/>
          </a:xfrm>
          <a:prstGeom prst="rect">
            <a:avLst/>
          </a:prstGeom>
          <a:solidFill>
            <a:srgbClr val="F0FBF4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27889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运行中 可执行操作：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23560" y="314553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🔧 变更配置  →  跳转配置管理页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55701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⚙️ 重新初始化  →  二次确认后执行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396849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✏️ 编辑信息  →  修改基础配置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37997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🗑️ 删除  →  需二次确认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743200"/>
            <a:ext cx="2286000" cy="1920240"/>
          </a:xfrm>
          <a:prstGeom prst="rect">
            <a:avLst/>
          </a:prstGeom>
          <a:solidFill>
            <a:srgbClr val="F8F8F8"/>
          </a:solidFill>
          <a:ln w="1270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7889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5A5A6"/>
                </a:solidFill>
              </a:rPr>
              <a:t>未初始化 可执行操作：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31455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⚙️ 初始化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355701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✏️ 编辑信息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396849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🗑️ 删除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257800"/>
            <a:ext cx="11612880" cy="411480"/>
          </a:xfrm>
          <a:prstGeom prst="rect">
            <a:avLst/>
          </a:prstGeom>
          <a:solidFill>
            <a:srgbClr val="EBF5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285232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70C0"/>
                </a:solidFill>
              </a:rPr>
              <a:t>💡 状态由系统自动维护：新增→未初始化  |  触发初始化→初始化中  |  Ansible成功→运行中  |  Ansible失败→初始化失败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六、运维生命周期三条路径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覆盖服务器从上线到发布的完整运维场景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7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1737360" cy="3657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路径 1：新服务器上线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118872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03120" y="1188720"/>
            <a:ext cx="2194560" cy="3657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76272" y="122529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录入信息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60934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填写 FQDN / IP
服务名等基础信息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6916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118872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1188720"/>
            <a:ext cx="2194560" cy="3657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122529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一键初始化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60934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Ansible 自动配置
目录/systemd/DNS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6916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118872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1188720"/>
            <a:ext cx="2194560" cy="3657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122529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配置同步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160934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从 GitLab 拉取
初始配置文件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6916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118872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9760" y="1188720"/>
            <a:ext cx="2194560" cy="36576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82912" y="122529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首次发布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160934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通过 Jira 发布流程
部署首个版本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2926080"/>
            <a:ext cx="17373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9626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路径 2：日常配置变更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03120" y="292608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03120" y="2926080"/>
            <a:ext cx="21945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76272" y="296265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打开配置管理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94560" y="334670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点击"变更配置"
跳转配置管理页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4290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7AE60"/>
                </a:solidFill>
              </a:rPr>
              <a:t>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292608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2926080"/>
            <a:ext cx="21945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2" y="296265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编辑配置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63440" y="334670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Monaco 编辑器
修改并保存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34290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7AE60"/>
                </a:solidFill>
              </a:rPr>
              <a:t>▶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40880" y="292608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40880" y="2926080"/>
            <a:ext cx="21945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14032" y="296265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提交 Git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334670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保留原始格式
自动 Commit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34290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7AE60"/>
                </a:solidFill>
              </a:rPr>
              <a:t>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09760" y="292608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509760" y="2926080"/>
            <a:ext cx="219456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82912" y="296265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Ansible 部署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334670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推送 Consul
下发到目标服务器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8600" y="4663440"/>
            <a:ext cx="1737360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4320" y="470001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路径 3：故障快速恢复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03120" y="466344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03120" y="4663440"/>
            <a:ext cx="2194560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76272" y="470001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发现告警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08406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监控推送
定位异常实例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0" y="516636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</a:rPr>
              <a:t>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0" y="466344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0" y="4663440"/>
            <a:ext cx="2194560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45152" y="470001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在线修复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508406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编辑配置
实时 JSON 校验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16636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</a:rPr>
              <a:t>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40880" y="466344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880" y="4663440"/>
            <a:ext cx="2194560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14032" y="470001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一键部署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32320" y="508406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触发 Ansible
进度实时可见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35440" y="516636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</a:rPr>
              <a:t>▶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09760" y="4663440"/>
            <a:ext cx="2194560" cy="1463040"/>
          </a:xfrm>
          <a:prstGeom prst="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509760" y="4663440"/>
            <a:ext cx="2194560" cy="36576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82912" y="4700016"/>
            <a:ext cx="20482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验证回滚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5084064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2C3E50"/>
                </a:solidFill>
              </a:rPr>
              <a:t>确认或一键
回滚到快照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七、服务器管理能力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统一录入 · 状态驱动 · 生命周期全程可视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8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576072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1225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🖥️ 单台 &amp; 批量新增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536192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591056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支持单台录入（FQDN / IP / 服务名 / 目录）
• 支持 Excel 批量导入，一次录入数十台
• 新增时可同步在 GitLab 创建配置占位
• 新增完成后可立即触发初始化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188720"/>
            <a:ext cx="576072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25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🏷️ 标签分类管理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536192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591056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自定义标签（如：出口机 / 内网机 / 测试机）
• 按标签批量执行操作（批量初始化、批量部署）
• 标签过滤快速定位目标机器
• 多标签叠加组合查询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749039"/>
            <a:ext cx="57607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" y="37856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⚙️ 状态驱动操作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096511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151375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未初始化：显示「初始化」按钮
• 初始化中：显示加载状态，按钮禁用
• 初始化失败：显示「重新初始化」按钮
• 运行中：显示「变更配置」按钮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49039"/>
            <a:ext cx="576072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1928" y="37856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🔄 生命周期追踪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096511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0D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151375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init_status 字段持久化到数据库
• 初始化中/成功/失败实时回写状态
• 运行中机器支持「⋯更多」→重新初始化
• 状态一览，一眼识别待处理机器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八、一键初始化能力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从"裸机"到"可发布状态"全自动，平均 2 分钟完成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9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148840" cy="256032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3444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2618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① 安装工具包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682496"/>
            <a:ext cx="193852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3E50"/>
                </a:solidFill>
              </a:rPr>
              <a:t>lrzsz / iftop / gdb
等常用运维工具
自动 yum 安装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194560"/>
            <a:ext cx="155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24328" y="1234440"/>
            <a:ext cx="2148840" cy="256032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24328" y="123444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2618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② 创建用户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1682496"/>
            <a:ext cx="193852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3E50"/>
                </a:solidFill>
              </a:rPr>
              <a:t>创建运维专用账号
配置 sudoers 权限
设置 limits.conf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194560"/>
            <a:ext cx="155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28616" y="1234440"/>
            <a:ext cx="2148840" cy="256032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28616" y="123444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1768" y="12618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③ 创建目录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8344" y="1682496"/>
            <a:ext cx="193852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3E50"/>
                </a:solidFill>
              </a:rPr>
              <a:t>/datayes/app/bin
/datayes/app/backups
/datayes/mdl 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7456" y="2194560"/>
            <a:ext cx="155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32904" y="1234440"/>
            <a:ext cx="2148840" cy="256032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32904" y="123444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06056" y="12618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④ 配置 systemd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2" y="1682496"/>
            <a:ext cx="193852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3E50"/>
                </a:solidFill>
              </a:rPr>
              <a:t>写入 service 文件
enable 自启动
设置重启策略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81744" y="2194560"/>
            <a:ext cx="155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37192" y="1234440"/>
            <a:ext cx="2148840" cy="256032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37192" y="123444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10344" y="12618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⑤ 配置 coredump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46920" y="1682496"/>
            <a:ext cx="193852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3E50"/>
                </a:solidFill>
              </a:rPr>
              <a:t>设置 core 文件路径
配置大小限制
方便故障诊断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977639"/>
            <a:ext cx="11521440" cy="1554480"/>
          </a:xfrm>
          <a:prstGeom prst="rect">
            <a:avLst/>
          </a:prstGeom>
          <a:solidFill>
            <a:srgbClr val="EBF5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初始化状态流转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462272"/>
            <a:ext cx="1188720" cy="347472"/>
          </a:xfrm>
          <a:prstGeom prst="rect">
            <a:avLst/>
          </a:prstGeom>
          <a:solidFill>
            <a:srgbClr val="95A5A6"/>
          </a:solidFill>
          <a:ln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4988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未初始化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45262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5A5A6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0" y="4462272"/>
            <a:ext cx="1188720" cy="347472"/>
          </a:xfrm>
          <a:prstGeom prst="rect">
            <a:avLst/>
          </a:prstGeom>
          <a:solidFill>
            <a:srgbClr val="F39C12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03320" y="44988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初始化中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452628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5A5A6"/>
                </a:solidFill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58000" y="4462272"/>
            <a:ext cx="1188720" cy="347472"/>
          </a:xfrm>
          <a:prstGeom prst="rect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03720" y="44988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运行中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74C3C"/>
                </a:solidFill>
              </a:rPr>
              <a:t>  （失败时 → 初始化失败，可重新初始化）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956048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• 触发初始化后立即更新状态为「初始化中」，前端轮询 task_id 实时展示进度
• Ansible 执行完成后系统自动回写状态，无需人工干预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九、批量运维能力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扩容不再是瓶颈 — 10 台机器 10 分钟全部就绪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10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2788920" cy="1828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34440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批量新增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3017520"/>
            <a:ext cx="2788920" cy="219456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3090672"/>
            <a:ext cx="25786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一次表单填写多条服务器信息，
系统自动逐条录入并在 GitLab
创建配置占位。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188720"/>
            <a:ext cx="2788920" cy="1828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1234440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批量初始化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3017520"/>
            <a:ext cx="2788920" cy="219456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0128" y="3090672"/>
            <a:ext cx="25786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选中多台服务器，一键触发，
串行执行 Ansible Playbook，
逐台完成环境初始化。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188720"/>
            <a:ext cx="2788920" cy="18288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234440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进度可视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017520"/>
            <a:ext cx="2788920" cy="2194560"/>
          </a:xfrm>
          <a:prstGeom prst="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3090672"/>
            <a:ext cx="25786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每台机器初始化进度实时展示，
日志流式输出，
可随时查看当前执行步骤。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188720"/>
            <a:ext cx="2788920" cy="1828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1234440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失败隔离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3017520"/>
            <a:ext cx="2788920" cy="2194560"/>
          </a:xfrm>
          <a:prstGeom prst="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3090672"/>
            <a:ext cx="25786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单台失败不影响后续机器执行，
失败机器标红，
支持单独重试。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5349240"/>
            <a:ext cx="1170432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3766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53766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之前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53766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之后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53766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节省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5715000"/>
            <a:ext cx="11704320" cy="329184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57515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新机初始化 (1台)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57515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40 分钟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57515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2 分钟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575157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95%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6062472"/>
            <a:ext cx="117043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0990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扩容 10 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60990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半天以上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60990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10 分钟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609904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97%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十、标准发布流程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Jira 驱动 · 顺序执行 · 全程可控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11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2148840" cy="320040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21615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0F0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225296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创建发布计划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645920"/>
            <a:ext cx="193852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在系统内创建，
填写发布内容
关联 Jira 工单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4688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39" y="1188720"/>
            <a:ext cx="2148840" cy="320040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06039" y="118872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79191" y="121615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0F0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1225296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配置发布内容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7" y="1645920"/>
            <a:ext cx="193852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选择发布对象
（服务器 + 服务名）
选择版本/仅配置变更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24688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59" y="1188720"/>
            <a:ext cx="2148840" cy="320040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37759" y="118872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1" y="121615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0F0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7" y="1225296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触发发布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7" y="1645920"/>
            <a:ext cx="193852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点击"发布"按钮，
系统按 index 顺序
逐步执行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599" y="24688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79" y="1188720"/>
            <a:ext cx="2148840" cy="320040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69479" y="118872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42631" y="121615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0F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53527" y="1225296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实时监控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7" y="1645920"/>
            <a:ext cx="193852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查看发布日志
每步状态可见
支持暂停/重试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246888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1188720"/>
            <a:ext cx="2148840" cy="320040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01200" y="118872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21615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0F0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85248" y="1225296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验证完成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10928" y="1645920"/>
            <a:ext cx="193852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确认发布结果
可随时回滚
7天内有效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572000"/>
            <a:ext cx="11612880" cy="1463040"/>
          </a:xfrm>
          <a:prstGeom prst="rect">
            <a:avLst/>
          </a:prstGeom>
          <a:solidFill>
            <a:srgbClr val="EBF5FF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617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</a:rPr>
              <a:t>发布流程关键特性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99262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✓ 每个发布步骤均有状态（待执行/执行中/成功/失败）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4992624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✓ 支持暂停：可在任意步骤暂停，等待人工确认后继续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✓ 支持回滚：7天内可一键回滚到发布前状态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4132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✓ 关联 Jira 工单，发布操作与需求变更双向可追溯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十一、发布回滚机制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7 天内一键回滚 · 自动记录发布前快照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12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0292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188720"/>
            <a:ext cx="10881360" cy="82296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2435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发布前自动快照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243584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系统在触发发布时自动为所有涉及配置创建 deploy_snapshot 快照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2743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70C0"/>
                </a:solidFill>
              </a:rPr>
              <a:t>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176272"/>
            <a:ext cx="50292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223113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176272"/>
            <a:ext cx="10881360" cy="82296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23113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记录发布时间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231136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ReleaseDetail.last_updated_time 记录最后更新时间，7 天内有效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679192"/>
            <a:ext cx="2743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70C0"/>
                </a:solidFill>
              </a:rPr>
              <a:t>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163824"/>
            <a:ext cx="50292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321868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163824"/>
            <a:ext cx="10881360" cy="82296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186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触发回滚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3218688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在发布详情页点击"回滚"，系统自动找到最近一次发布前快照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666744"/>
            <a:ext cx="2743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70C0"/>
                </a:solidFill>
              </a:rPr>
              <a:t>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151376"/>
            <a:ext cx="50292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420624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151376"/>
            <a:ext cx="10881360" cy="82296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206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自动还原配置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0" y="4206240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将快照内容写回 ConfigFile，推送 Consul，重新执行 Ansible 部署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654296"/>
            <a:ext cx="27432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70C0"/>
                </a:solidFill>
              </a:rPr>
              <a:t>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138928"/>
            <a:ext cx="50292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519379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138928"/>
            <a:ext cx="10881360" cy="82296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1937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2B55"/>
                </a:solidFill>
              </a:rPr>
              <a:t>回滚完成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519379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状态更新为"已回滚"，操作记录写入审计日志，全程可追溯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十二、配置管理核心能力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浏览器内完整的配置编辑 · 版本 · 部署闭环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13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576072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1225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📝 Monaco 编辑器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536192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591056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JSON 语法高亮与格式校验
• Ctrl+S 立即保存 / 3 秒自动保存
• 修改状态实时提示（未保存/保存中/已保存）
• 支持代码折叠与格式化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188720"/>
            <a:ext cx="576072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25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📜 自动历史快照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536192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591056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每次保存前自动创建快照（action=save）
• 批量操作、文本替换同样触发快照
• 可与当前版本进行 Diff 对比
• 支持一键回滚到任意历史版本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749039"/>
            <a:ext cx="57607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" y="37856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🔧 批量结构化修改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096511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151375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跨多个实例同时修改同名 key
• 支持嵌套 key（点分隔：a.b.c）
• 支持 __DELETE__ 删除指定 key
• 修改前展示影响范围，可取消确认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49039"/>
            <a:ext cx="576072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1928" y="37856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🔍 文本替换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096511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0D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151375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• 在多个实例中搜索并替换文本
• 支持预览模式（只显示不保存）
• 空搜索文本返回 400 错误
• 替换前自动创建快照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十三、紧急故障恢复能力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在线修改 → 一键部署 → 立即回滚，端到端分钟级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14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2148840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26187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T+0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6187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故障发现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18488"/>
            <a:ext cx="2148840" cy="2743200"/>
          </a:xfrm>
          <a:prstGeom prst="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691640"/>
            <a:ext cx="193852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监控告警触发
运维人员登录系统
定位异常实例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5603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74C3C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06039" y="1234440"/>
            <a:ext cx="2148840" cy="38404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9191" y="126187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T+1min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39" y="126187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在线编辑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1618488"/>
            <a:ext cx="2148840" cy="2743200"/>
          </a:xfrm>
          <a:prstGeom prst="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15767" y="1691640"/>
            <a:ext cx="193852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浏览器打开配置
Monaco 编辑器修改
实时 JSON 校验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25603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7E22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59" y="1234440"/>
            <a:ext cx="214884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10911" y="126187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T+2min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26187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一键部署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59" y="1618488"/>
            <a:ext cx="2148840" cy="274320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47487" y="1691640"/>
            <a:ext cx="193852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选择目标实例
触发 Ansible 部署
进度实时可见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599" y="25603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70C0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79" y="1234440"/>
            <a:ext cx="214884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42631" y="126187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T+3min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126187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验证确认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69479" y="1618488"/>
            <a:ext cx="2148840" cy="274320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9207" y="1691640"/>
            <a:ext cx="193852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查看服务状态
确认故障恢复
记录操作日志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256032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7AE60"/>
                </a:solidFill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1234440"/>
            <a:ext cx="2148840" cy="384048"/>
          </a:xfrm>
          <a:prstGeom prst="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74352" y="1261872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T+4min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126187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必要时回滚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618488"/>
            <a:ext cx="2148840" cy="2743200"/>
          </a:xfrm>
          <a:prstGeom prst="rect">
            <a:avLst/>
          </a:prstGeom>
          <a:solidFill>
            <a:srgbClr val="ECF0F1"/>
          </a:solidFill>
          <a:ln w="12700">
            <a:solidFill>
              <a:srgbClr val="95A5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10928" y="1691640"/>
            <a:ext cx="1938528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若验证失败
一键回滚配置
自动还原服务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663440"/>
            <a:ext cx="11612880" cy="502920"/>
          </a:xfrm>
          <a:prstGeom prst="rect">
            <a:avLst/>
          </a:prstGeom>
          <a:solidFill>
            <a:srgbClr val="FDF2F8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70916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74C3C"/>
                </a:solidFill>
              </a:rPr>
              <a:t>⚡ 全流程 &lt; 5 分钟  |  无需 SSH 登录目标服务器  |  操作全程有审计  |  配置变更可随时回滚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十四、一致性巡检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主动发现配置漂移，快速定位异常机器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15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57607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1225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什么是配置漂移？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536192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591056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同一服务类型下，不同实例的配置文件出现差异，
通常由人工误操作或紧急修复未同步导致。
漂移若未被发现，会引发难以排查的偶发性故障。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188720"/>
            <a:ext cx="576072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25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系统如何巡检？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536192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591056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通过 /api/config-mgmt/configs/consistency_check/ 接口，
将同类型实例的配置内容进行 JSON 结构对比，
自动标注差异 key 和差异值，高亮显示异常机器。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749039"/>
            <a:ext cx="576072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" y="37856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发现问题后怎么做？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096511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151375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① 查看差异详情，确认是否为预期差异
② 若为异常：使用批量修改将目标 key 统一
③ 一键部署到受影响实例
④ 再次巡检确认一致性恢复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49039"/>
            <a:ext cx="576072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1928" y="3785615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典型应用场景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4096511"/>
            <a:ext cx="5760720" cy="2029968"/>
          </a:xfrm>
          <a:prstGeom prst="rect">
            <a:avLst/>
          </a:prstGeom>
          <a:solidFill>
            <a:srgbClr val="ECF0F1"/>
          </a:solidFill>
          <a:ln w="12700">
            <a:solidFill>
              <a:srgbClr val="0D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4151375"/>
            <a:ext cx="5532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📌 紧急修复后忘记同步到其他机器
📌 批量发布中途中断，部分机器版本不同
📌 手工 SSH 修改未走系统流程
📌 新机上线后配置未同步最新版本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十五、Git 双向同步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GitLab 作为配置的权威版本库，数据库作为运营态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16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00400" cy="1371600"/>
          </a:xfrm>
          <a:prstGeom prst="rect">
            <a:avLst/>
          </a:prstGeom>
          <a:solidFill>
            <a:srgbClr val="FCF8E3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67E22"/>
                </a:solidFill>
              </a:rPr>
              <a:t>GitLab
配置仓库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1371600"/>
            <a:ext cx="3200400" cy="1371600"/>
          </a:xfrm>
          <a:prstGeom prst="rect">
            <a:avLst/>
          </a:prstGeom>
          <a:solidFill>
            <a:srgbClr val="EBF5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5544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70C0"/>
                </a:solidFill>
              </a:rPr>
              <a:t>系统数据库
（运营态）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66420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7AE60"/>
                </a:solidFill>
              </a:rPr>
              <a:t>━━━━━━━━━━━━━━━━━━▶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011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C3E50"/>
                </a:solidFill>
              </a:rPr>
              <a:t>POST /sync/  从 GitLab 下载 tar，解析目录结构同步到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423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70C0"/>
                </a:solidFill>
              </a:rPr>
              <a:t>◀━━━━━━━━━━━━━━━━━━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7432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C3E50"/>
                </a:solidFill>
              </a:rPr>
              <a:t>POST /git_commit/  将 DB 中内容提交到 GitLab，保留格式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383280"/>
            <a:ext cx="3794760" cy="23774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383280"/>
            <a:ext cx="379476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1071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🔵 数据库 → Git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3785615"/>
            <a:ext cx="358444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编辑后提交时，raw_content 字段保留原始格式，
git diff 显示简洁，避免格式噪声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3383280"/>
            <a:ext cx="3794760" cy="237744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1959" y="3383280"/>
            <a:ext cx="379476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399" y="341071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🟢 Git → 数据库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7" y="3785615"/>
            <a:ext cx="358444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同步时解析 GitLab 归档目录结构，
自动创建 ServiceType / Instance / ConfigFile 层级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3383280"/>
            <a:ext cx="3794760" cy="2377440"/>
          </a:xfrm>
          <a:prstGeom prst="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3383280"/>
            <a:ext cx="379476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41071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🟠 Consul 推送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8" y="3785615"/>
            <a:ext cx="358444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部署时同时推送 Consul KV，
服务实例动态读取配置，无需重启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十六、完整审计能力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所有操作可查、可追溯、可导出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17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11612880" cy="3657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161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字段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21615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说明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2161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内容示例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572768"/>
            <a:ext cx="11612880" cy="49377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64592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0C0"/>
                </a:solidFill>
              </a:rPr>
              <a:t>operator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6459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操作人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64592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登录用户名，对应 Django User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084832"/>
            <a:ext cx="116128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1579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0C0"/>
                </a:solidFill>
              </a:rPr>
              <a:t>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579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操作类型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15798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save / batch_update / text_replace / git_commit / push_consul / deploy / sync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596896"/>
            <a:ext cx="11612880" cy="49377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0C0"/>
                </a:solidFill>
              </a:rPr>
              <a:t>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2670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操作结果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670048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success / failed / partial（部分成功）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108960"/>
            <a:ext cx="116128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18211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0C0"/>
                </a:solidFill>
              </a:rPr>
              <a:t>instance_names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18211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影响实例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182112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逗号分隔的实例名称列表，范围清晰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621024"/>
            <a:ext cx="11612880" cy="49377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69417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0C0"/>
                </a:solidFill>
              </a:rPr>
              <a:t>summary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69417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操作摘要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3694176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修改了哪些 key、替换了什么文本、git commit message 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133088"/>
            <a:ext cx="1161288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20624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0C0"/>
                </a:solidFill>
              </a:rPr>
              <a:t>detail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42062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详情(JSON)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420624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完整的 diff / 结果，供深度排查使用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645152"/>
            <a:ext cx="11612880" cy="493776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718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0C0"/>
                </a:solidFill>
              </a:rPr>
              <a:t>deploy_task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471830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关联任务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1840" y="4718304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C3E50"/>
                </a:solidFill>
              </a:rPr>
              <a:t>关联 ConfigDeployTask，deploy 操作可追踪到具体 Ansible 执行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十七、关键设计决策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技术选型背后的工程思考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18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5760720" cy="16916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188720"/>
            <a:ext cx="576072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225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独立临时目录执行 Ansible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1591056"/>
            <a:ext cx="554126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每次初始化/部署在 tmpdir 中运行，复制 ansi/mdl/ 目录结构，
避免并发任务相互干扰，也保证 host_vars 与 playbook 相对路径正确。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188720"/>
            <a:ext cx="5760720" cy="16916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188720"/>
            <a:ext cx="576072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225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后台线程 + 轮询状态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1591056"/>
            <a:ext cx="554126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init 和 deploy 均在后台线程执行（非阻塞），
主线程立即返回 task_id，前端每 2 秒轮询状态，
避免请求超时，用户体验流畅。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2999232"/>
            <a:ext cx="5760720" cy="16916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8600" y="2999232"/>
            <a:ext cx="576072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03580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raw_content 保留原始格式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" y="3401568"/>
            <a:ext cx="554126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ConfigFile 同时存储 content（Python dict）和 raw_content（原始文本），
git commit 时优先用 raw_content，避免 json.dumps 压缩导致 git diff 噪声。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999232"/>
            <a:ext cx="5760720" cy="16916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999232"/>
            <a:ext cx="576072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03580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状态机驱动 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3401568"/>
            <a:ext cx="554126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init_status 字段（5种状态）驱动前端操作按钮，
状态由后端自动维护：触发初始化→initializing，Ansible完成→ready/failed。
前端无法越过状态执行非法操作。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4809744"/>
            <a:ext cx="5760720" cy="16916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4809744"/>
            <a:ext cx="576072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484632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串行批量初始化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" y="5212080"/>
            <a:ext cx="554126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批量初始化采用串行（非并行），
单台失败不影响后续机器，便于定位问题，
避免并发 SSH 时网络压力和资源竞争。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809744"/>
            <a:ext cx="5760720" cy="169164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809744"/>
            <a:ext cx="576072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84632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API 响应统一 ApiResponse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212080"/>
            <a:ext cx="5541264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3E50"/>
                </a:solidFill>
              </a:rPr>
              <a:t>所有接口返回 {code, message, data} 格式，
前端 axios 拦截器统一处理，code!=200 自动弹错，
code=200 直接解包 data，减少重复代码。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十八、效率提升数据化对比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用数字说话 — 自动化的价值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19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11612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161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216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优化前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216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优化后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216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时间节省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2161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说明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591056"/>
            <a:ext cx="11612880" cy="6400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664208"/>
            <a:ext cx="2560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🚀 新服务器初始化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1664208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40 分钟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1664208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2 分钟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664208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664208"/>
            <a:ext cx="3657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通过 Ansible 一键初始化，消除人工逐步操作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249424"/>
            <a:ext cx="116128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322576"/>
            <a:ext cx="2560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📦 扩容 10 台服务器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2322576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半天以上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2322576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10 分钟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322576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97%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322576"/>
            <a:ext cx="3657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批量初始化，串行执行，自动记录状态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907791"/>
            <a:ext cx="11612880" cy="6400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980943"/>
            <a:ext cx="2560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🔧 配置变更上线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2980943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30 分钟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980943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5 分钟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980943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83%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2980943"/>
            <a:ext cx="3657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在线编辑 → Git 提交 → Ansible 部署一体化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566160"/>
            <a:ext cx="116128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3639312"/>
            <a:ext cx="2560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🔄 故障配置回滚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3639312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2 小时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639312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3 分钟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639312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98%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3639312"/>
            <a:ext cx="3657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历史快照一键回滚，无需人工 SSH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224528"/>
            <a:ext cx="11612880" cy="6400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297680"/>
            <a:ext cx="2560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🔍 配置差异排查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4297680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1 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6320" y="4297680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10 分钟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297680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99%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4297680"/>
            <a:ext cx="3657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一致性巡检自动对比，差异高亮显示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4882896"/>
            <a:ext cx="116128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4956048"/>
            <a:ext cx="25603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📋 新人熟悉流程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26080" y="4956048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2 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4956048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2 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4956048"/>
            <a:ext cx="18288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</a:rPr>
              <a:t>86%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4956048"/>
            <a:ext cx="3657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系统化标准流程，新人快速上手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十九、风险降低总结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四层防护体系构建系统可靠性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20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2788920" cy="502920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188720"/>
            <a:ext cx="2788920" cy="9144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176272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可回滚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1272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配置历史快照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694176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发布前自动备份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61104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支持任意版本回滚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28031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7天内一键恢复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188720"/>
            <a:ext cx="2788920" cy="502920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1188720"/>
            <a:ext cx="2788920" cy="9144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176272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有审计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1272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操作人全记录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694176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时间精确到秒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4261104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影响范围可查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4828031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结果状态留存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188720"/>
            <a:ext cx="2788920" cy="5029200"/>
          </a:xfrm>
          <a:prstGeom prst="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1188720"/>
            <a:ext cx="278892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2176272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有权限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1272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admin/operator/viewer 三级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694176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敏感操作需高级权限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261104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部署权限独立控制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828031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防止误操作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1188720"/>
            <a:ext cx="2788920" cy="5029200"/>
          </a:xfrm>
          <a:prstGeom prst="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0" y="1188720"/>
            <a:ext cx="2788920" cy="914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92640" y="1325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176272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有巡检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3127248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主动发现配置漂移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3694176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自动对比差异 key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4261104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异常机器高亮显示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4828031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✓ 定时巡检能力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二十、对团队的价值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让工程师从重复劳动中解放，专注更有价值的工作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21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3794760" cy="347472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" y="122529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⚡ 减少重复劳动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536192"/>
            <a:ext cx="3794760" cy="4681728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591056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✓ 新机初始化从 40 分钟压缩到 2 分钟
✓ 批量操作替代逐台 SSH
✓ 自动保存替代手动备份
✓ 配置查找从文档变为系统搜索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15384" y="1188720"/>
            <a:ext cx="379476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122529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🎯 减少人为错误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15384" y="1536192"/>
            <a:ext cx="3794760" cy="4681728"/>
          </a:xfrm>
          <a:prstGeom prst="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1591056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✓ Ansible 幂等执行，操作结果可预期
✓ JSON 实时校验，错误配置无法保存
✓ 操作前自动快照，出错可还原
✓ 权限控制防止未经授权的变更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02168" y="1188720"/>
            <a:ext cx="379476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22529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📈 提升专业度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02168" y="1536192"/>
            <a:ext cx="3794760" cy="4681728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1591056"/>
            <a:ext cx="3566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✓ 标准化流程，新人两天上手
✓ 操作有记录，团队协作有依据
✓ 可以轻松应对审计和合规检查
✓ 运维从"消防员"变为"工程师"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二十一、对公司的价值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稳定性提升 · 成本降低 · 交付加速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22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3794760" cy="242316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188720"/>
            <a:ext cx="3794760" cy="7315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24358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系统稳定性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280160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</a:rPr>
              <a:t>提升 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11680"/>
            <a:ext cx="3520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配置变更导致的线上故障大幅减少
审计追溯缩短平均故障定位时间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5384" y="1188720"/>
            <a:ext cx="3794760" cy="242316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5384" y="1188720"/>
            <a:ext cx="379476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24358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事故概率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1280160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</a:rPr>
              <a:t>降低 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2544" y="2011680"/>
            <a:ext cx="3520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人工误操作减少、配置一致性保证
权限控制防止越权变更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02168" y="1188720"/>
            <a:ext cx="3794760" cy="2423160"/>
          </a:xfrm>
          <a:prstGeom prst="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02168" y="1188720"/>
            <a:ext cx="3794760" cy="7315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1896" y="124358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恢复时间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8" y="1280160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</a:rPr>
              <a:t>缩短 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011680"/>
            <a:ext cx="3520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MTTR 从小时级降至分钟级
一键回滚无需等待人工介入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3794760"/>
            <a:ext cx="3794760" cy="2423160"/>
          </a:xfrm>
          <a:prstGeom prst="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" y="3794760"/>
            <a:ext cx="3794760" cy="731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" y="384962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交付效率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3886200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</a:rPr>
              <a:t>提升 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617720"/>
            <a:ext cx="3520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扩容周期从天缩短到小时
标准化流程减少沟通成本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15384" y="3794760"/>
            <a:ext cx="3794760" cy="2423160"/>
          </a:xfrm>
          <a:prstGeom prst="rect">
            <a:avLst/>
          </a:prstGeom>
          <a:solidFill>
            <a:srgbClr val="ECF0F1"/>
          </a:solidFill>
          <a:ln w="12700">
            <a:solidFill>
              <a:srgbClr val="0D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15384" y="3794760"/>
            <a:ext cx="3794760" cy="7315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25112" y="384962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合规能力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92824" y="3886200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</a:rPr>
              <a:t>满足 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2544" y="4617720"/>
            <a:ext cx="3520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完整审计日志满足合规要求
操作链路可追溯可导出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02168" y="3794760"/>
            <a:ext cx="3794760" cy="2423160"/>
          </a:xfrm>
          <a:prstGeom prst="rect">
            <a:avLst/>
          </a:prstGeom>
          <a:solidFill>
            <a:srgbClr val="ECF0F1"/>
          </a:solidFill>
          <a:ln w="12700">
            <a:solidFill>
              <a:srgbClr val="6C35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02168" y="3794760"/>
            <a:ext cx="3794760" cy="731520"/>
          </a:xfrm>
          <a:prstGeom prst="rect">
            <a:avLst/>
          </a:prstGeom>
          <a:solidFill>
            <a:srgbClr val="6C35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11896" y="384962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人员成本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79608" y="3886200"/>
            <a:ext cx="1325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 i="0">
                <a:solidFill>
                  <a:srgbClr val="FFFFFF"/>
                </a:solidFill>
              </a:rPr>
              <a:t>降低 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9328" y="4617720"/>
            <a:ext cx="3520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C3E50"/>
                </a:solidFill>
              </a:rPr>
              <a:t>运维人效提升，减少低价值重复劳动
新人上手成本大幅降低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二十二、未来规划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0F0"/>
                </a:solidFill>
              </a:rPr>
              <a:t>持续演进，构建更完整的智能运维体系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288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F0F1"/>
                </a:solidFill>
              </a:rPr>
              <a:t>MDL 服务器运维管理系统  |  运维研发团队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28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ECF0F1"/>
                </a:solidFill>
              </a:rPr>
              <a:t>23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188720"/>
            <a:ext cx="3794760" cy="5029200"/>
          </a:xfrm>
          <a:prstGeom prst="rect">
            <a:avLst/>
          </a:prstGeom>
          <a:solidFill>
            <a:srgbClr val="ECF0F1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188720"/>
            <a:ext cx="3794760" cy="3840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225296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近期（Q2 2026）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664208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支持更多服务类型的初始化（转发机/出口机/数据机）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4203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配置差异自动修复（一键将异常机器同步到目标版本）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419856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批量操作支持暂停 / 继续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297680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导出失败机器列表，方便后续单独处理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175504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初始化完成自动触发配置同步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5384" y="1188720"/>
            <a:ext cx="3794760" cy="5029200"/>
          </a:xfrm>
          <a:prstGeom prst="rect">
            <a:avLst/>
          </a:prstGeom>
          <a:solidFill>
            <a:srgbClr val="ECF0F1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15384" y="1188720"/>
            <a:ext cx="379476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06824" y="1225296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中期（Q3 2026）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1664208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自动巡检报警（定时检测，异常推送企业微信）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2544" y="254203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接入 CMDB 自动同步服务器信息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3419856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配置模板管理（保存常用初始化配置为模板）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2544" y="4297680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操作回放功能（完整操作时序可视化）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2544" y="5175504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服务器健康度看板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02168" y="1188720"/>
            <a:ext cx="3794760" cy="5029200"/>
          </a:xfrm>
          <a:prstGeom prst="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02168" y="1188720"/>
            <a:ext cx="3794760" cy="38404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1225296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远期（2027+）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8" y="1664208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AI 辅助配置分析（异常配置智能识别）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2542032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容器化部署支持（Kubernetes 集成）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3419856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多集群统一管理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8" y="4297680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自愈能力（故障自动触发回滚）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5175504"/>
            <a:ext cx="35661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</a:rPr>
              <a:t>▶ SLA 可视化报告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二十三、总结陈述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48640" cy="54864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9304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2801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0F0"/>
                </a:solidFill>
              </a:rPr>
              <a:t>从人治走向平台化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91640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CF0F1"/>
                </a:solidFill>
              </a:rPr>
              <a:t>所有操作通过系统执行，有记录、有审批、有权限，
摆脱对个人经验和记忆力的依赖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96312"/>
            <a:ext cx="548640" cy="54864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551176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4203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0F0"/>
                </a:solidFill>
              </a:rPr>
              <a:t>从手工走向自动化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53512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CF0F1"/>
                </a:solidFill>
              </a:rPr>
              <a:t>Ansible 驱动的自动化执行，保证一致性和幂等性，
人从重复操作中解放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58183"/>
            <a:ext cx="548640" cy="54864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813047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03903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0F0"/>
                </a:solidFill>
              </a:rPr>
              <a:t>从不可控走向可追溯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15383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CF0F1"/>
                </a:solidFill>
              </a:rPr>
              <a:t>完整的审计日志和历史快照，每一次变更都有迹可循，
故障可快速定位和恢复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20056"/>
            <a:ext cx="548640" cy="54864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074920"/>
            <a:ext cx="548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D2B55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06577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0F0"/>
                </a:solidFill>
              </a:rPr>
              <a:t>从被动救火走向主动治理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477256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CF0F1"/>
                </a:solidFill>
              </a:rPr>
              <a:t>状态机驱动生命周期，一致性巡检主动发现问题，
配置回滚快速止血，让运维从救火变为预防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5A5A6"/>
                </a:solidFill>
              </a:rPr>
              <a:t>MDL 服务器运维管理系统  |  release-src v2.x  |  运维研发团队  |  2026-03-02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